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310896" cy="31089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74980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MAP · MAGHREB ARABE PRESSE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Plateforme de gestion et de diffusion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de contenus vidéo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A9BCD4"/>
                </a:solidFill>
                <a:latin typeface="Segoe UI"/>
              </a:rPr>
              <a:t>Solution interne entièrement auto-hébergée — streaming HLS, sans aucun service externe.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937760"/>
            <a:ext cx="3840480" cy="381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Projet de Fin d'Études — Youssra Zounaki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CD4"/>
                </a:solidFill>
                <a:latin typeface="Segoe UI"/>
              </a:rPr>
              <a:t>EHEI Oujda · Stage à la MAP, Rabat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3A3"/>
                </a:solidFill>
                <a:latin typeface="Segoe UI"/>
              </a:rPr>
              <a:t>Encadré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PLAN DE LA PRÉSENTATION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66928" cy="56692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5331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0F2742"/>
                </a:solidFill>
                <a:latin typeface="Segoe UI"/>
              </a:rPr>
              <a:t>Problématique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3A3"/>
                </a:solidFill>
                <a:latin typeface="Segoe UI"/>
              </a:rPr>
              <a:t>Contexte MAP, enjeux de souveraineté, objectifs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12848"/>
            <a:ext cx="566928" cy="56692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0F2742"/>
                </a:solidFill>
                <a:latin typeface="Segoe UI"/>
              </a:rPr>
              <a:t>Analyse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3A3"/>
                </a:solidFill>
                <a:latin typeface="Segoe UI"/>
              </a:rPr>
              <a:t>Besoins fonctionnels &amp; non fonctionnels, acteurs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54096"/>
            <a:ext cx="566928" cy="56692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540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35808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0F2742"/>
                </a:solidFill>
                <a:latin typeface="Segoe UI"/>
              </a:rPr>
              <a:t>Conception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3A3"/>
                </a:solidFill>
                <a:latin typeface="Segoe UI"/>
              </a:rPr>
              <a:t>Architecture, stack, données, pipeline, 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95344"/>
            <a:ext cx="566928" cy="56692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9534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77056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0F2742"/>
                </a:solidFill>
                <a:latin typeface="Segoe UI"/>
              </a:rPr>
              <a:t>Implémentation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3A3"/>
                </a:solidFill>
                <a:latin typeface="Segoe UI"/>
              </a:rPr>
              <a:t>Backend, frontend, API, tests, déploiement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36592"/>
            <a:ext cx="566928" cy="56692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7365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718304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0F2742"/>
                </a:solidFill>
                <a:latin typeface="Segoe UI"/>
              </a:rPr>
              <a:t>Démonstration &amp; résultats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3A3"/>
                </a:solidFill>
                <a:latin typeface="Segoe UI"/>
              </a:rPr>
              <a:t>Parcours bout-en-bout, captures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77840"/>
            <a:ext cx="566928" cy="56692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577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55955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0F2742"/>
                </a:solidFill>
                <a:latin typeface="Segoe UI"/>
              </a:rPr>
              <a:t>Perspectives d'amélioration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3A3"/>
                </a:solidFill>
                <a:latin typeface="Segoe UI"/>
              </a:rPr>
              <a:t>Sécurité, vidéo, UX, 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3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128016" cy="21031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1005840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1272D"/>
                </a:solidFill>
                <a:latin typeface="Segoe UI"/>
              </a:rPr>
              <a:t>01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Problématique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9BCD4"/>
                </a:solidFill>
                <a:latin typeface="Segoe UI"/>
              </a:rPr>
              <a:t>Pourquoi une plateforme vidéo interne pour la MAP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PROBLÉMATIQUE · CONTEXTE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La MAP, agence de presse nationale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09728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La Maghreb Arabe Presse produit un volume croissant de contenus vidéo institutionnels.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Ces contenus sont diffusés et archivés sans outil interne dédié, souvent via des plateformes externes.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Enjeu de souveraineté : des contenus officiels et sensibles hébergés hors du contrôle de l'agence.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1" i="0">
                <a:solidFill>
                  <a:srgbClr val="0F2742"/>
                </a:solidFill>
                <a:latin typeface="Segoe UI"/>
              </a:rPr>
              <a:t>Besoin d'une chaîne maîtrisée : téléversement → traitement → stockage → diffusion.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PROBLÉMATIQUE · CONSTAT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Les limites de l'existant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09728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Dépendance aux services externes (YouTube/Vimeo, cloud public, CDN tiers).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Perte de maîtrise sur la diffusion, les droits et la durée de vie des contenus.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Absence de gestion centralisée des rôles et des accès (qui publie quoi ?).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Pas de statistiques internes ni de traçabilité (audit) des actions.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1" i="0">
                <a:solidFill>
                  <a:srgbClr val="C1272D"/>
                </a:solidFill>
                <a:latin typeface="Segoe UI"/>
              </a:rPr>
              <a:t>Contrainte forte du projet : aucune dépendance à un service externe, tout auto-hébergeable.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PROBLÉMATIQUE · OBJECTIFS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Objectifs du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09728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1" i="0">
                <a:solidFill>
                  <a:srgbClr val="0F2742"/>
                </a:solidFill>
                <a:latin typeface="Segoe UI"/>
              </a:rPr>
              <a:t>Plateforme interne, entièrement auto-hébergée, sans aucun service externe.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50" b="0" i="0">
                <a:solidFill>
                  <a:srgbClr val="1F2733"/>
                </a:solidFill>
                <a:latin typeface="Segoe UI"/>
              </a:rPr>
              <a:t>Téléversement, traitement (transcodage), stockage objet et diffusion en streaming HLS.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50" b="0" i="0">
                <a:solidFill>
                  <a:srgbClr val="1F2733"/>
                </a:solidFill>
                <a:latin typeface="Segoe UI"/>
              </a:rPr>
              <a:t>Contrôle d'accès basé sur les rôles : Admin, Éditeur, Visiteur (RBAC).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50" b="0" i="0">
                <a:solidFill>
                  <a:srgbClr val="1F2733"/>
                </a:solidFill>
                <a:latin typeface="Segoe UI"/>
              </a:rPr>
              <a:t>Recherche du catalogue, statistiques de visionnage et journal d'audit.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50" b="0" i="0">
                <a:solidFill>
                  <a:srgbClr val="1F2733"/>
                </a:solidFill>
                <a:latin typeface="Segoe UI"/>
              </a:rPr>
              <a:t>Interface professionnelle et fluide, bilingue Français / Arabe avec mise en page RTL.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50" b="0" i="0">
                <a:solidFill>
                  <a:srgbClr val="1F2733"/>
                </a:solidFill>
                <a:latin typeface="Segoe UI"/>
              </a:rPr>
              <a:t>Lecteur vidéo développé en interne (hls.js), intégrable et piloté par l'API.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3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128016" cy="21031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1005840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1272D"/>
                </a:solidFill>
                <a:latin typeface="Segoe UI"/>
              </a:rPr>
              <a:t>02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Analyse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9BCD4"/>
                </a:solidFill>
                <a:latin typeface="Segoe UI"/>
              </a:rPr>
              <a:t>Besoins fonctionnels et non fonctionnels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ANALYSE · RÔLES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Besoins fonctionnels par rôle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21208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212080" cy="5029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Gestion des utilisateurs et des rôles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Configuration système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Statistiques globales (vues, temps, top)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Journal d'audit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Gestion des catégories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21208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5212080" cy="5029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4173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Éditeur &amp; Visiteur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Éditeur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Téléversement &amp; métadonnées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Publication / archivage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Recherche &amp; indexation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Visiteur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Navigation du catalogue, visionnage anonyme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Auth requise : commenter, liker, partager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ANALYSE · QUALITÉ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Besoins non fonctionnels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21208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212080" cy="5029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Contraintes clés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Auto-hébergement total (contrainte forte)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Sécurité : Identity + JWT, RBAC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Async/await systématique (I/O)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Recherche : PostgreSQL full-text (tsvector)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Aucun moteur ni service externe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21208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5212080" cy="5029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4173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Qualité de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Performance : HLS multi-débit adaptatif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Scalabilité : jobs asynchrones (Hangfire)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Robustesse : retry du pipeline en cas d'échec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Accessibilité &amp; internationalisation FR/AR + RTL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Erreurs normalisées (ProblemDetails)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ANALYSE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Cycle de vie d'une vidéo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194560"/>
            <a:ext cx="1965960" cy="9144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965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194560"/>
            <a:ext cx="320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2194560"/>
            <a:ext cx="1965960" cy="9144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194560"/>
            <a:ext cx="1965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194560"/>
            <a:ext cx="320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2194560"/>
            <a:ext cx="1965960" cy="9144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194560"/>
            <a:ext cx="1965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194560"/>
            <a:ext cx="320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2194560"/>
            <a:ext cx="1965960" cy="9144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194560"/>
            <a:ext cx="1965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Published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194560"/>
            <a:ext cx="320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38360" y="2194560"/>
            <a:ext cx="1965960" cy="9144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2194560"/>
            <a:ext cx="1965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66160"/>
            <a:ext cx="2743200" cy="77724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6616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1272D"/>
                </a:solidFill>
                <a:latin typeface="Segoe UI"/>
              </a:rPr>
              <a:t>Failed  (échec pipeline)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3A3"/>
                </a:solidFill>
                <a:latin typeface="Segoe UI"/>
              </a:rPr>
              <a:t>→ retry automatique (Hangfire)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66344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F2733"/>
                </a:solidFill>
                <a:latin typeface="Segoe UI"/>
              </a:rPr>
              <a:t>L'éditeur initialise une vidéo (Draft) et téléverse le fichier en chunks dans MinIO.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F2733"/>
                </a:solidFill>
                <a:latin typeface="Segoe UI"/>
              </a:rPr>
              <a:t>Un job Hangfire enfile le transcodage ; FFmpeg génère un HLS multi-débit (360p/720p/1080p).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F2733"/>
                </a:solidFill>
                <a:latin typeface="Segoe UI"/>
              </a:rPr>
              <a:t>Succès → Ready (publiable) ; publication → Published (visible au catalogue public).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3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128016" cy="21031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1005840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1272D"/>
                </a:solidFill>
                <a:latin typeface="Segoe UI"/>
              </a:rPr>
              <a:t>03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Conception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9BCD4"/>
                </a:solidFill>
                <a:latin typeface="Segoe UI"/>
              </a:rPr>
              <a:t>Architecture, technologies et modèle de données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CONCEPTION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Architecture générale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3383280" cy="11887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31089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Angular 17 SPA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D7DEE8"/>
                </a:solidFill>
                <a:latin typeface="Segoe UI"/>
              </a:rPr>
              <a:t>Admin · Éditeur · Visiteur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40" y="1691640"/>
            <a:ext cx="411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3383280" cy="11887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91640"/>
            <a:ext cx="31089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API REST /api/v1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D7DEE8"/>
                </a:solidFill>
                <a:latin typeface="Segoe UI"/>
              </a:rPr>
              <a:t>ASP.NET Core 8 · JWT · RBAC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91640"/>
            <a:ext cx="411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1691640"/>
            <a:ext cx="3383280" cy="11887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91640"/>
            <a:ext cx="31089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PostgreSQL 16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D7DEE8"/>
                </a:solidFill>
                <a:latin typeface="Segoe UI"/>
              </a:rPr>
              <a:t>EF Core 8 · full-text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291840"/>
            <a:ext cx="3383280" cy="109728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91840"/>
            <a:ext cx="50800" cy="109728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91840"/>
            <a:ext cx="3063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742"/>
                </a:solidFill>
                <a:latin typeface="Segoe UI"/>
              </a:rPr>
              <a:t>MinIO (S3)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8A93A3"/>
                </a:solidFill>
                <a:latin typeface="Segoe UI"/>
              </a:rPr>
              <a:t>Originaux + segments HLS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291840"/>
            <a:ext cx="3383280" cy="109728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291840"/>
            <a:ext cx="50800" cy="109728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291840"/>
            <a:ext cx="3063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742"/>
                </a:solidFill>
                <a:latin typeface="Segoe UI"/>
              </a:rPr>
              <a:t>Hangfire + FFmpeg 6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8A93A3"/>
                </a:solidFill>
                <a:latin typeface="Segoe UI"/>
              </a:rPr>
              <a:t>File de transcodage → HLS multi-débit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3291840"/>
            <a:ext cx="3383280" cy="109728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3291840"/>
            <a:ext cx="50800" cy="109728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291840"/>
            <a:ext cx="3063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742"/>
                </a:solidFill>
                <a:latin typeface="Segoe UI"/>
              </a:rPr>
              <a:t>Nginx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8A93A3"/>
                </a:solidFill>
                <a:latin typeface="Segoe UI"/>
              </a:rPr>
              <a:t>Reverse proxy · diffusion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6344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400" b="1" i="0">
                <a:solidFill>
                  <a:srgbClr val="0F2742"/>
                </a:solidFill>
                <a:latin typeface="Segoe UI"/>
              </a:rPr>
              <a:t>Orchestration Docker Compose — pile 100 % auto-hébergée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Aucune dépendance externe : pas de YouTube/Vimeo, pas de cloud public, pas de CDN tiers.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Visionnage anonyme autorisé ; authentification requise pour commenter, liker, partager.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CONCEPTION · TECHNOLOGIES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Stack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21208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212080" cy="5029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Backend &amp; 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ASP.NET Core 8 (C# 12)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Découpage Domain / Application / Infrastructure / Api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Entity Framework Core 8 + PostgreSQL 16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Hangfire (file de transcodage, storage Postgres)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MinIO (S3) · FFmpeg 6 → HLS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ASP.NET Core Identity + JWT (RBAC)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21208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5212080" cy="5029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4173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Frontend &amp; diffusion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Angular 17 (standalone, Signals)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Tailwind CSS (design « Newsroom ») + composants headless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Lecteur interne hls.js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i18n FR/AR maison + bascule RTL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Nginx (reverse proxy) · Docker Compose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Tests : xUnit + Testcontainers · Jest + Cypress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CONCEPTION · DONNÉES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Modèle de données (PostgreSQL / EF Core)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09728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50" b="0" i="0">
                <a:solidFill>
                  <a:srgbClr val="1F2733"/>
                </a:solidFill>
                <a:latin typeface="Segoe UI"/>
              </a:rPr>
              <a:t>Identité &amp; RBAC : User, Role, UserRole (mot de passe haché, unicité e-mail).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50" b="0" i="0">
                <a:solidFill>
                  <a:srgbClr val="1F2733"/>
                </a:solidFill>
                <a:latin typeface="Segoe UI"/>
              </a:rPr>
              <a:t>Catalogue : Video (statut, slug, SearchVector), Category, Tag, VideoTag.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50" b="0" i="0">
                <a:solidFill>
                  <a:srgbClr val="1F2733"/>
                </a:solidFill>
                <a:latin typeface="Segoe UI"/>
              </a:rPr>
              <a:t>Diffusion : VideoRendition (360p/720p/1080p, clé manifeste), TranscodeJob (statut, progression, retry).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50" b="0" i="0">
                <a:solidFill>
                  <a:srgbClr val="1F2733"/>
                </a:solidFill>
                <a:latin typeface="Segoe UI"/>
              </a:rPr>
              <a:t>Engagement : Comment, Like (unique par vidéo/utilisateur), Share, ViewEvent (télémétrie).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50" b="0" i="0">
                <a:solidFill>
                  <a:srgbClr val="1F2733"/>
                </a:solidFill>
                <a:latin typeface="Segoe UI"/>
              </a:rPr>
              <a:t>Administration : AuditLog (traçabilité), SystemSetting (configuration clé/valeur).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50" b="1" i="0">
                <a:solidFill>
                  <a:srgbClr val="0F2742"/>
                </a:solidFill>
                <a:latin typeface="Segoe UI"/>
              </a:rPr>
              <a:t>Recherche full-text PostgreSQL (tsvector) sur titre / description / tags — aucun moteur externe.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CONCEPTION · PIPELINE VIDÉO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Du téléversement à la diffusion HLS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09728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1 — L'éditeur initialise une vidéo (Draft) et téléverse le fichier en chunks.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2 — Le fichier original est stocké dans MinIO (originals/{videoId}/source).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3 — Un job Hangfire est enfilé ; la vidéo passe en Processing.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4 — FFmpeg génère un HLS multi-débit (360p/720p/1080p) + manifeste maître dans MinIO.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5 — Succès → Ready (publiable) ; échec → Failed + retry Hangfire.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1" i="0">
                <a:solidFill>
                  <a:srgbClr val="0F2742"/>
                </a:solidFill>
                <a:latin typeface="Segoe UI"/>
              </a:rPr>
              <a:t>6 — Diffusion : le lecteur consomme le manifeste via un proxy /hls (Nginx + API).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CONCEPTION · INTERFACES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Conception des interfaces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21208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212080" cy="5029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Direction « Newsroom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Bleu encre + rouge MAP, sobre et éditorial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Inspire la confiance d'une agence officielle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Tailwind + composants accessibles (headless)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État applicatif via Angular Signals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21208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5212080" cy="5029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4173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Trois espaces distincts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Visiteur : barre haute, catalogue public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Éditeur : back-office (téléversement, suivi)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Admin : back-office (utilisateurs, stats, config)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Bilingue FR/AR — bascule à chaud + RTL global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3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128016" cy="21031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1005840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1272D"/>
                </a:solidFill>
                <a:latin typeface="Segoe UI"/>
              </a:rPr>
              <a:t>04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Implémentation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9BCD4"/>
                </a:solidFill>
                <a:latin typeface="Segoe UI"/>
              </a:rPr>
              <a:t>Réalisation, tests et déploiement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IMPLÉMENTATION · MÉTHODE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Démarche d'ingénierie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09728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Flux structuré : brainstorming → spécification → plan d'implémentation → exécution.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1" i="0">
                <a:solidFill>
                  <a:srgbClr val="0F2742"/>
                </a:solidFill>
                <a:latin typeface="Segoe UI"/>
              </a:rPr>
              <a:t>Développement piloté par les tests (TDD) : test rouge → code minimal → test vert → commit.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Livraison incrémentale par phases, chacune produisant un logiciel fonctionnel et testé.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Commits fréquents et atomiques ; revue de cohérence vis-à-vis de la spécification.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IMPLÉMENTATION · BACKEND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Backend — phases livrées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21208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212080" cy="5029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Phases 1 →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Socle, EF Core, migrations, seed RBAC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Auth : Identity (hash), JWT, gardes par rôle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Catalogue : recherche full-text, publication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21208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5212080" cy="5029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4173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Phases 4 →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Diffusion HLS : /stream + proxy /hls (MinIO)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Engagement : commentaires, likes, partages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Admin &amp; analytique : stats, audit, configuration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+ endpoints Catégories (CRUD) &amp; Tags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IMPLÉMENTATION · FRONTEND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Frontend — phases livrées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21208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212080" cy="5029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Socle &amp; espaces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Phase 1 : socle + design system + espace public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Phase 2 : auth (AuthStore signals) + espace Éditeur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Phase 3 : espace Admin (5 écrans)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21208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5212080" cy="5029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4173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Internationalisation &amp; qualité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Phase 4 : i18n FR/AR + RTL (service maison)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i18n étendue à tous les écrans éditeur &amp; admin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Upload chunké + suivi de transcodage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Gestion d'erreur (états de chargement robustes)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IMPLÉMENTATION · API REST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API REST versionnée (/api/v1)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09728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0" i="0">
                <a:solidFill>
                  <a:srgbClr val="1F2733"/>
                </a:solidFill>
                <a:latin typeface="Segoe UI"/>
              </a:rPr>
              <a:t>Auth : POST /auth/login · /auth/register · GET /auth/me (JWT Bearer).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0" i="0">
                <a:solidFill>
                  <a:srgbClr val="1F2733"/>
                </a:solidFill>
                <a:latin typeface="Segoe UI"/>
              </a:rPr>
              <a:t>Catalogue : GET /videos (recherche, filtres, pagination) · GET /videos/{id} · /stream · /hls/{**}.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0" i="0">
                <a:solidFill>
                  <a:srgbClr val="1F2733"/>
                </a:solidFill>
                <a:latin typeface="Segoe UI"/>
              </a:rPr>
              <a:t>Éditeur : POST /videos · /upload/chunk · /upload/complete · PUT /videos/{id} · /publish · /archive.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0" i="0">
                <a:solidFill>
                  <a:srgbClr val="1F2733"/>
                </a:solidFill>
                <a:latin typeface="Segoe UI"/>
              </a:rPr>
              <a:t>Engagement : commentaires, likes, partages, /views (télémétrie).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0" i="0">
                <a:solidFill>
                  <a:srgbClr val="1F2733"/>
                </a:solidFill>
                <a:latin typeface="Segoe UI"/>
              </a:rPr>
              <a:t>Admin : GET /stats · /audit · GET/PUT /config · /users (+ rôles) · /categories · /tags.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1" i="0">
                <a:solidFill>
                  <a:srgbClr val="0F2742"/>
                </a:solidFill>
                <a:latin typeface="Segoe UI"/>
              </a:rPr>
              <a:t>Erreurs normalisées via ProblemDetails ; accès protégés par [Authorize(Roles=…)].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IMPLÉMENTATION · TESTS &amp; QUALITÉ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Qualité vérifiée par les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2545003" cy="219456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2545003" cy="508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2545003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F2742"/>
                </a:solidFill>
                <a:latin typeface="Segoe UI"/>
              </a:rPr>
              <a:t>63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3A3"/>
                </a:solidFill>
                <a:latin typeface="Segoe UI"/>
              </a:rPr>
              <a:t>tests backend
(xUnit + Testcontainers)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3683" y="1828800"/>
            <a:ext cx="2545003" cy="219456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3683" y="1828800"/>
            <a:ext cx="2545003" cy="508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240280"/>
            <a:ext cx="2545003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F2742"/>
                </a:solidFill>
                <a:latin typeface="Segoe UI"/>
              </a:rPr>
              <a:t>65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3A3"/>
                </a:solidFill>
                <a:latin typeface="Segoe UI"/>
              </a:rPr>
              <a:t>tests frontend
(Jest)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6" y="1828800"/>
            <a:ext cx="2545003" cy="219456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6" y="1828800"/>
            <a:ext cx="2545003" cy="508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6" y="2240280"/>
            <a:ext cx="2545003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F2742"/>
                </a:solidFill>
                <a:latin typeface="Segoe UI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3A3"/>
                </a:solidFill>
                <a:latin typeface="Segoe UI"/>
              </a:rPr>
              <a:t>donnée factice
en production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329" y="1828800"/>
            <a:ext cx="2545003" cy="219456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329" y="1828800"/>
            <a:ext cx="2545003" cy="508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329" y="2240280"/>
            <a:ext cx="2545003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F2742"/>
                </a:solidFill>
                <a:latin typeface="Segoe UI"/>
              </a:rPr>
              <a:t>3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3A3"/>
                </a:solidFill>
                <a:latin typeface="Segoe UI"/>
              </a:rPr>
              <a:t>migrations
de base de données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IMPLÉMENTATION · DÉPLOIEMENT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Déploiement auto-hébergé (Docker Compose)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09728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Pile complète : PostgreSQL, Redis, MinIO, API, worker (FFmpeg), Nginx.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Migrations appliquées et compte administrateur initialisé au démarrage de l'API.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0" i="0">
                <a:solidFill>
                  <a:srgbClr val="1F2733"/>
                </a:solidFill>
                <a:latin typeface="Segoe UI"/>
              </a:rPr>
              <a:t>Tests d'intégration sur conteneurs réels (Postgres + MinIO) — preuve de fonctionnement, pas de simulation.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400" b="1" i="0">
                <a:solidFill>
                  <a:srgbClr val="0F2742"/>
                </a:solidFill>
                <a:latin typeface="Segoe UI"/>
              </a:rPr>
              <a:t>Aucun service externe : conforme à la contrainte de souveraineté du projet.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3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128016" cy="21031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1005840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1272D"/>
                </a:solidFill>
                <a:latin typeface="Segoe UI"/>
              </a:rPr>
              <a:t>05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Démonstration &amp; résultats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9BCD4"/>
                </a:solidFill>
                <a:latin typeface="Segoe UI"/>
              </a:rPr>
              <a:t>Le produit, en conditions réelles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DÉMONSTRATION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Interface — Français (LTR) &amp; Arabe (RTL)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p-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480"/>
            <a:ext cx="5394960" cy="22296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93776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F2742"/>
                </a:solidFill>
                <a:latin typeface="Segoe UI"/>
              </a:rPr>
              <a:t>Catalogue — Français (gauche → droite)</a:t>
            </a:r>
          </a:p>
        </p:txBody>
      </p:sp>
      <p:pic>
        <p:nvPicPr>
          <p:cNvPr id="9" name="Picture 8" descr="map-a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394960" cy="22296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493776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F2742"/>
                </a:solidFill>
                <a:latin typeface="Segoe UI"/>
              </a:rPr>
              <a:t>Catalogue — Arabe (mise en page RTL miroir)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DÉMONSTRATION · BOUT-EN-BOUT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Parcours validé sur la pile réelle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09728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50" b="0" i="0">
                <a:solidFill>
                  <a:srgbClr val="1F2733"/>
                </a:solidFill>
                <a:latin typeface="Segoe UI"/>
              </a:rPr>
              <a:t>Connexion de l'administrateur (compte initialisé) → jeton JWT émis et vérifié (/auth/me).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50" b="0" i="0">
                <a:solidFill>
                  <a:srgbClr val="1F2733"/>
                </a:solidFill>
                <a:latin typeface="Segoe UI"/>
              </a:rPr>
              <a:t>Création de catégories via l'API → persistées en PostgreSQL (slug généré, accents normalisés).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50" b="0" i="0">
                <a:solidFill>
                  <a:srgbClr val="1F2733"/>
                </a:solidFill>
                <a:latin typeface="Segoe UI"/>
              </a:rPr>
              <a:t>Inscription d'un éditeur + attribution du rôle Éditeur par l'administrateur.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50" b="0" i="0">
                <a:solidFill>
                  <a:srgbClr val="1F2733"/>
                </a:solidFill>
                <a:latin typeface="Segoe UI"/>
              </a:rPr>
              <a:t>Statistiques calculées en direct depuis la base (nombre d'utilisateurs, de vidéos…).</a:t>
            </a:r>
          </a:p>
          <a:p>
            <a:pPr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50" b="1" i="0">
                <a:solidFill>
                  <a:srgbClr val="0F2742"/>
                </a:solidFill>
                <a:latin typeface="Segoe UI"/>
              </a:rPr>
              <a:t>Le frontend consomme l'API réelle ; états de chargement et d'erreur gérés proprement.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3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128016" cy="21031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1005840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1272D"/>
                </a:solidFill>
                <a:latin typeface="Segoe UI"/>
              </a:rPr>
              <a:t>06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Perspectives d'amélioration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9BCD4"/>
                </a:solidFill>
                <a:latin typeface="Segoe UI"/>
              </a:rPr>
              <a:t>Faire évoluer la plateforme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PERSPECTIVES · 1/2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Pistes d'évolution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21208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212080" cy="5029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Sécurité &amp; comptes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Jetons de rafraîchissement (refresh tokens)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Authentification multi-facteurs (MFA)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Politique de mots de passe &amp; verrouillage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Limitation de débit (rate-limiting) anti-abus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21208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5212080" cy="5029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4173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Vidéo &amp; diffusion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Sous-titres / transcription automatique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Génération automatique de miniatures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Chiffrement HLS (clés) / protection des contenus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Diffusion en direct (live streaming)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1272D"/>
                </a:solidFill>
                <a:latin typeface="Segoe UI"/>
              </a:rPr>
              <a:t>PERSPECTIVES · 2/2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2742"/>
                </a:solidFill>
                <a:latin typeface="Segoe UI"/>
              </a:rPr>
              <a:t>Pistes d'évolution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24128"/>
            <a:ext cx="1828800" cy="381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21208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212080" cy="5029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Expérience &amp; 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Recommandations et recherche à facettes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Tableaux de bord analytiques enrichis + export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Notifications (fin de transcodage, publication)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Thème sombre pour le lecteur, accessibilité WCAG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21208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5212080" cy="50292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4173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Exploitation (Ops)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46634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CI/CD et exécution des tests e2e (Cypress) en pipeline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Supervision (Prometheus / Grafana) &amp; alertes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Haute disponibilité &amp; sauvegardes automatisées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50" b="0" i="0">
                <a:solidFill>
                  <a:srgbClr val="1F2733"/>
                </a:solidFill>
                <a:latin typeface="Segoe UI"/>
              </a:rPr>
              <a:t>Montée en charge horizontale des workers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MAP — Plateforme de diffusion vidéo interne · PFE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54710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9BCD4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272D"/>
                </a:solidFill>
                <a:latin typeface="Segoe UI"/>
              </a:rPr>
              <a:t>CONCLUSION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Une plateforme interne, souveraine et extensible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Font typeface="Arial"/>
              <a:buChar char="▪"/>
            </a:pPr>
            <a:r>
              <a:rPr sz="1500" b="0" i="0">
                <a:solidFill>
                  <a:srgbClr val="D7DEE8"/>
                </a:solidFill>
                <a:latin typeface="Segoe UI"/>
              </a:rPr>
              <a:t>Une chaîne complète maîtrisée : téléversement, transcodage HLS, stockage objet et diffusion.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/>
              <a:buChar char="▪"/>
            </a:pPr>
            <a:r>
              <a:rPr sz="1500" b="0" i="0">
                <a:solidFill>
                  <a:srgbClr val="D7DEE8"/>
                </a:solidFill>
                <a:latin typeface="Segoe UI"/>
              </a:rPr>
              <a:t>Entièrement auto-hébergée — aucune dépendance à un service externe (souveraineté des contenus).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/>
              <a:buChar char="▪"/>
            </a:pPr>
            <a:r>
              <a:rPr sz="1500" b="0" i="0">
                <a:solidFill>
                  <a:srgbClr val="D7DEE8"/>
                </a:solidFill>
                <a:latin typeface="Segoe UI"/>
              </a:rPr>
              <a:t>Sécurisée (JWT + RBAC), internationalisée (FR/AR + RTL) et vérifiée par 128 tests automatisés.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/>
              <a:buChar char="▪"/>
            </a:pPr>
            <a:r>
              <a:rPr sz="1500" b="0" i="0">
                <a:solidFill>
                  <a:srgbClr val="D7DEE8"/>
                </a:solidFill>
                <a:latin typeface="Segoe UI"/>
              </a:rPr>
              <a:t>Une base claire et modulaire, prête à accueillir les perspectives d'évolution.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3200400" cy="381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Merci de votre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